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14"/>
  </p:notesMasterIdLst>
  <p:sldIdLst>
    <p:sldId id="267" r:id="rId3"/>
    <p:sldId id="257" r:id="rId4"/>
    <p:sldId id="278" r:id="rId5"/>
    <p:sldId id="258" r:id="rId6"/>
    <p:sldId id="259" r:id="rId7"/>
    <p:sldId id="260" r:id="rId8"/>
    <p:sldId id="261" r:id="rId9"/>
    <p:sldId id="263" r:id="rId10"/>
    <p:sldId id="279" r:id="rId11"/>
    <p:sldId id="265" r:id="rId12"/>
    <p:sldId id="266" r:id="rId13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14672-7F74-4670-9356-5FF07953FE6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C78BE-84F6-4F5F-974A-47A573FE28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0" y="232920"/>
            <a:ext cx="121917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18212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16480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19944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18212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816480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/>
          <p:nvPr userDrawn="1"/>
        </p:nvSpPr>
        <p:spPr>
          <a:xfrm>
            <a:off x="777239" y="6634573"/>
            <a:ext cx="5781822" cy="22097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/>
          <p:cNvSpPr txBox="1"/>
          <p:nvPr userDrawn="1"/>
        </p:nvSpPr>
        <p:spPr>
          <a:xfrm>
            <a:off x="6559062" y="6634573"/>
            <a:ext cx="5195133" cy="220979"/>
          </a:xfrm>
          <a:prstGeom prst="rect">
            <a:avLst/>
          </a:prstGeom>
          <a:solidFill>
            <a:srgbClr val="00808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/>
          <p:cNvSpPr txBox="1"/>
          <p:nvPr userDrawn="1"/>
        </p:nvSpPr>
        <p:spPr>
          <a:xfrm>
            <a:off x="11754196" y="6637020"/>
            <a:ext cx="437803" cy="220979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3"/>
          <p:cNvSpPr txBox="1"/>
          <p:nvPr userDrawn="1"/>
        </p:nvSpPr>
        <p:spPr>
          <a:xfrm>
            <a:off x="-1" y="-1"/>
            <a:ext cx="12191999" cy="232759"/>
          </a:xfrm>
          <a:prstGeom prst="rect">
            <a:avLst/>
          </a:prstGeom>
          <a:solidFill>
            <a:srgbClr val="006666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5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/>
          <p:cNvSpPr txBox="1"/>
          <p:nvPr userDrawn="1"/>
        </p:nvSpPr>
        <p:spPr>
          <a:xfrm>
            <a:off x="0" y="6634573"/>
            <a:ext cx="777239" cy="22152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0" y="232920"/>
            <a:ext cx="121917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418212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816480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19944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418212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816480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/>
          <p:nvPr/>
        </p:nvSpPr>
        <p:spPr>
          <a:xfrm>
            <a:off x="777240" y="6634440"/>
            <a:ext cx="5781600" cy="2206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" name="Date Placeholder 3"/>
          <p:cNvSpPr/>
          <p:nvPr/>
        </p:nvSpPr>
        <p:spPr>
          <a:xfrm>
            <a:off x="6559200" y="6634440"/>
            <a:ext cx="5194800" cy="220680"/>
          </a:xfrm>
          <a:prstGeom prst="rect">
            <a:avLst/>
          </a:prstGeom>
          <a:solidFill>
            <a:srgbClr val="008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" name="Date Placeholder 3"/>
          <p:cNvSpPr/>
          <p:nvPr/>
        </p:nvSpPr>
        <p:spPr>
          <a:xfrm>
            <a:off x="11754360" y="6636960"/>
            <a:ext cx="437400" cy="2206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3" name="Date Placeholder 3"/>
          <p:cNvSpPr/>
          <p:nvPr/>
        </p:nvSpPr>
        <p:spPr>
          <a:xfrm>
            <a:off x="0" y="0"/>
            <a:ext cx="12191760" cy="232560"/>
          </a:xfrm>
          <a:prstGeom prst="rect">
            <a:avLst/>
          </a:prstGeom>
          <a:solidFill>
            <a:srgbClr val="0066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/>
          <p:nvPr/>
        </p:nvSpPr>
        <p:spPr>
          <a:xfrm>
            <a:off x="0" y="6634440"/>
            <a:ext cx="776880" cy="22104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 panose="020F0502020204030204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 algn="just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Times New Roman" panose="02020603050405020304"/>
              </a:rPr>
              <a:t>Click to edit the outline text format</a:t>
            </a:r>
          </a:p>
          <a:p>
            <a:pPr marL="864235" lvl="1" indent="-323850" algn="just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Second Outline Level</a:t>
            </a:r>
          </a:p>
          <a:p>
            <a:pPr marL="1296035" lvl="2" indent="-288290" algn="just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Third Outline Level</a:t>
            </a:r>
          </a:p>
          <a:p>
            <a:pPr marL="1727835" lvl="3" indent="-215900" algn="just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Fourth Outline Level</a:t>
            </a:r>
          </a:p>
          <a:p>
            <a:pPr marL="2160270" lvl="4" indent="-215900" algn="just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Fifth Outline Level</a:t>
            </a:r>
          </a:p>
          <a:p>
            <a:pPr marL="2592070" lvl="5" indent="-215900" algn="just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Sixth Outline Level</a:t>
            </a:r>
          </a:p>
          <a:p>
            <a:pPr marL="3023870" lvl="6" indent="-215900" algn="just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FFFFFF"/>
                </a:solidFill>
                <a:latin typeface="Times New Roman" panose="02020603050405020304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800" b="0" strike="noStrike" spc="-1">
                <a:solidFill>
                  <a:srgbClr val="000000"/>
                </a:solidFill>
                <a:latin typeface="Times New Roman" panose="02020603050405020304"/>
              </a:rPr>
              <a:t>Edit Master text styles</a:t>
            </a:r>
          </a:p>
          <a:p>
            <a:pPr marL="685800" lvl="1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Wingdings" panose="05000000000000000000" pitchFamily="2" charset="2"/>
              <a:buChar char=""/>
            </a:pPr>
            <a:r>
              <a:rPr lang="en-US" sz="2400" b="0" strike="noStrike" spc="-1">
                <a:solidFill>
                  <a:srgbClr val="000000"/>
                </a:solidFill>
                <a:latin typeface="Times New Roman" panose="02020603050405020304"/>
              </a:rPr>
              <a:t>Second level</a:t>
            </a:r>
          </a:p>
          <a:p>
            <a:pPr marL="1143000" lvl="2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Courier New" panose="02070309020205020404"/>
              <a:buChar char="o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Third level</a:t>
            </a:r>
          </a:p>
          <a:p>
            <a:pPr marL="1600200" lvl="3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Wingdings" panose="05000000000000000000" pitchFamily="2" charset="2"/>
              <a:buChar char="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Fourth level</a:t>
            </a:r>
          </a:p>
          <a:p>
            <a:pPr marL="2057400" lvl="4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Fifth level</a:t>
            </a:r>
          </a:p>
        </p:txBody>
      </p:sp>
      <p:sp>
        <p:nvSpPr>
          <p:cNvPr id="45" name="Date Placeholder 3"/>
          <p:cNvSpPr/>
          <p:nvPr/>
        </p:nvSpPr>
        <p:spPr>
          <a:xfrm>
            <a:off x="777240" y="6642720"/>
            <a:ext cx="5653800" cy="2149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cap="small" spc="-1" dirty="0">
                <a:solidFill>
                  <a:srgbClr val="FFFFFF"/>
                </a:solidFill>
                <a:latin typeface="Times New Roman" panose="02020603050405020304"/>
              </a:rPr>
              <a:t>Dept. of Computer Science and Engineering</a:t>
            </a:r>
            <a:endParaRPr lang="en-IN" sz="1600" b="0" strike="noStrike" spc="-1" dirty="0">
              <a:latin typeface="Arial" panose="020B0604020202020204"/>
            </a:endParaRPr>
          </a:p>
        </p:txBody>
      </p:sp>
      <p:sp>
        <p:nvSpPr>
          <p:cNvPr id="46" name="Date Placeholder 3"/>
          <p:cNvSpPr/>
          <p:nvPr/>
        </p:nvSpPr>
        <p:spPr>
          <a:xfrm>
            <a:off x="6431400" y="6642000"/>
            <a:ext cx="5322600" cy="215640"/>
          </a:xfrm>
          <a:prstGeom prst="rect">
            <a:avLst/>
          </a:prstGeom>
          <a:solidFill>
            <a:srgbClr val="008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cap="small" spc="-1">
                <a:solidFill>
                  <a:srgbClr val="FFFFFF"/>
                </a:solidFill>
                <a:latin typeface="Times New Roman" panose="02020603050405020304"/>
              </a:rPr>
              <a:t>Srinivasa Ramanujan Institute of Technology</a:t>
            </a:r>
            <a:endParaRPr lang="en-IN" sz="1600" b="0" strike="noStrike" spc="-1">
              <a:latin typeface="Arial" panose="020B0604020202020204"/>
            </a:endParaRPr>
          </a:p>
        </p:txBody>
      </p:sp>
      <p:sp>
        <p:nvSpPr>
          <p:cNvPr id="47" name="Date Placeholder 3"/>
          <p:cNvSpPr/>
          <p:nvPr/>
        </p:nvSpPr>
        <p:spPr>
          <a:xfrm>
            <a:off x="11623040" y="6642100"/>
            <a:ext cx="568960" cy="21590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287FBA57-AD8A-4D8D-8881-00EAA4F18DD5}" type="slidenum">
              <a:rPr lang="en-IN" sz="1600" b="1" strike="noStrike" spc="-1">
                <a:solidFill>
                  <a:srgbClr val="002060"/>
                </a:solidFill>
                <a:latin typeface="Times New Roman" panose="02020603050405020304"/>
              </a:rPr>
              <a:t>‹#›</a:t>
            </a:fld>
            <a:endParaRPr lang="en-IN" sz="1600" b="0" strike="noStrike" spc="-1" dirty="0">
              <a:latin typeface="Arial" panose="020B0604020202020204"/>
            </a:endParaRPr>
          </a:p>
        </p:txBody>
      </p:sp>
      <p:sp>
        <p:nvSpPr>
          <p:cNvPr id="48" name="Date Placeholder 3"/>
          <p:cNvSpPr/>
          <p:nvPr/>
        </p:nvSpPr>
        <p:spPr>
          <a:xfrm>
            <a:off x="0" y="0"/>
            <a:ext cx="12191760" cy="232560"/>
          </a:xfrm>
          <a:prstGeom prst="rect">
            <a:avLst/>
          </a:prstGeom>
          <a:solidFill>
            <a:srgbClr val="0066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i="1" strike="noStrike" spc="-1" dirty="0">
                <a:solidFill>
                  <a:srgbClr val="FFFFFF"/>
                </a:solidFill>
                <a:latin typeface="Times New Roman" panose="02020603050405020304"/>
              </a:rPr>
              <a:t>ROOMIE RADAR- Smart Roommate Finder Portal</a:t>
            </a:r>
            <a:endParaRPr lang="en-IN" sz="1500" b="0" strike="noStrike" spc="-1" dirty="0">
              <a:latin typeface="Arial" panose="020B0604020202020204"/>
            </a:endParaRPr>
          </a:p>
        </p:txBody>
      </p:sp>
      <p:pic>
        <p:nvPicPr>
          <p:cNvPr id="49" name="Picture 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506320" y="595620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50" name="Date Placeholder 3"/>
          <p:cNvSpPr/>
          <p:nvPr/>
        </p:nvSpPr>
        <p:spPr>
          <a:xfrm>
            <a:off x="0" y="6642735"/>
            <a:ext cx="932815" cy="21463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cap="small" spc="-1" dirty="0">
                <a:solidFill>
                  <a:srgbClr val="FFFFFF"/>
                </a:solidFill>
                <a:latin typeface="Times New Roman" panose="02020603050405020304"/>
              </a:rPr>
              <a:t>A -03</a:t>
            </a:r>
            <a:endParaRPr lang="en-IN" sz="1600" b="0" strike="noStrike" spc="-1" dirty="0"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vedithakummetha63/CSE-2022-26-Batch-A3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11"/>
          <p:cNvSpPr txBox="1"/>
          <p:nvPr/>
        </p:nvSpPr>
        <p:spPr>
          <a:xfrm>
            <a:off x="8001000" y="1803112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5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A.S. SABIHA AFRIN </a:t>
            </a:r>
            <a:endParaRPr lang="en-US" sz="5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2800" b="0" dirty="0"/>
              <a:t>Roll No. </a:t>
            </a:r>
            <a:r>
              <a:rPr lang="en-US" b="0" dirty="0"/>
              <a:t>22</a:t>
            </a:r>
            <a:r>
              <a:rPr lang="en-US" sz="2800" b="0" dirty="0"/>
              <a:t>4G1A0588</a:t>
            </a:r>
          </a:p>
        </p:txBody>
      </p:sp>
      <p:sp>
        <p:nvSpPr>
          <p:cNvPr id="6" name="Subtitle 11"/>
          <p:cNvSpPr txBox="1"/>
          <p:nvPr/>
        </p:nvSpPr>
        <p:spPr>
          <a:xfrm>
            <a:off x="3759654" y="2475580"/>
            <a:ext cx="4672674" cy="8980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1400" b="0" i="1" dirty="0"/>
              <a:t>Under the guidance of</a:t>
            </a:r>
          </a:p>
          <a:p>
            <a:pPr>
              <a:spcBef>
                <a:spcPts val="2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Mrs. S. Sunitha ,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M.Tech(Ph.D)</a:t>
            </a:r>
            <a:endParaRPr lang="en-IN" sz="1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2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  <a:endParaRPr lang="en-IN" sz="1400" b="0" dirty="0"/>
          </a:p>
        </p:txBody>
      </p:sp>
      <p:sp>
        <p:nvSpPr>
          <p:cNvPr id="7" name="Subtitle 11"/>
          <p:cNvSpPr txBox="1"/>
          <p:nvPr/>
        </p:nvSpPr>
        <p:spPr>
          <a:xfrm>
            <a:off x="1514475" y="5162533"/>
            <a:ext cx="9163049" cy="1427181"/>
          </a:xfrm>
          <a:prstGeom prst="rect">
            <a:avLst/>
          </a:prstGeom>
        </p:spPr>
        <p:txBody>
          <a:bodyPr vert="horz" lIns="91440" tIns="45720" rIns="91440" bIns="45720" rtlCol="0">
            <a:normAutofit fontScale="5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4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Computer Science and Engineering     </a:t>
            </a:r>
          </a:p>
          <a:p>
            <a:pPr>
              <a:spcBef>
                <a:spcPts val="500"/>
              </a:spcBef>
            </a:pPr>
            <a:r>
              <a:rPr lang="en-US" sz="65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Srinivasa Ramanujan Institute of Technology</a:t>
            </a:r>
          </a:p>
          <a:p>
            <a:pPr>
              <a:spcBef>
                <a:spcPts val="300"/>
              </a:spcBef>
            </a:pPr>
            <a:r>
              <a:rPr lang="en-US" sz="3400" dirty="0">
                <a:effectLst/>
                <a:ea typeface="Times New Roman" panose="02020603050405020304" pitchFamily="18" charset="0"/>
              </a:rPr>
              <a:t>Autonomous</a:t>
            </a:r>
            <a:endParaRPr lang="en-US" sz="3400" b="0" dirty="0"/>
          </a:p>
          <a:p>
            <a:pPr>
              <a:spcBef>
                <a:spcPts val="300"/>
              </a:spcBef>
            </a:pPr>
            <a:r>
              <a:rPr lang="en-US" sz="2300" dirty="0" err="1"/>
              <a:t>Rotarypuram</a:t>
            </a:r>
            <a:r>
              <a:rPr lang="en-US" sz="2300" dirty="0"/>
              <a:t> Village, B K </a:t>
            </a:r>
            <a:r>
              <a:rPr lang="en-US" sz="2300" dirty="0" err="1"/>
              <a:t>Samudram</a:t>
            </a:r>
            <a:r>
              <a:rPr lang="en-US" sz="2300" dirty="0"/>
              <a:t> Mandal, </a:t>
            </a:r>
            <a:r>
              <a:rPr lang="en-US" sz="2300" dirty="0" err="1"/>
              <a:t>Ananthapuramu</a:t>
            </a:r>
            <a:r>
              <a:rPr lang="en-US" sz="2300" dirty="0"/>
              <a:t> – 515701.</a:t>
            </a:r>
          </a:p>
          <a:p>
            <a:pPr>
              <a:spcAft>
                <a:spcPts val="100"/>
              </a:spcAft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2025-2026</a:t>
            </a:r>
            <a:endParaRPr lang="en-US" sz="2500" b="0" dirty="0"/>
          </a:p>
          <a:p>
            <a:endParaRPr lang="en-IN" b="0" dirty="0"/>
          </a:p>
        </p:txBody>
      </p:sp>
      <p:sp>
        <p:nvSpPr>
          <p:cNvPr id="12" name="Subtitle 11"/>
          <p:cNvSpPr txBox="1"/>
          <p:nvPr/>
        </p:nvSpPr>
        <p:spPr>
          <a:xfrm>
            <a:off x="4904538" y="178300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19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P.AJAY KUMAR </a:t>
            </a:r>
            <a:endParaRPr lang="en-US" sz="19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1200" b="0" dirty="0"/>
              <a:t>Roll No. 224G1A0502</a:t>
            </a:r>
          </a:p>
        </p:txBody>
      </p:sp>
      <p:sp>
        <p:nvSpPr>
          <p:cNvPr id="13" name="Subtitle 11"/>
          <p:cNvSpPr txBox="1"/>
          <p:nvPr/>
        </p:nvSpPr>
        <p:spPr>
          <a:xfrm>
            <a:off x="8617598" y="178300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endParaRPr lang="en-US" sz="2800" b="0" dirty="0"/>
          </a:p>
        </p:txBody>
      </p:sp>
      <p:sp>
        <p:nvSpPr>
          <p:cNvPr id="14" name="Subtitle 11"/>
          <p:cNvSpPr txBox="1"/>
          <p:nvPr/>
        </p:nvSpPr>
        <p:spPr>
          <a:xfrm>
            <a:off x="1676400" y="1722075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19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K.NIVEDITHA</a:t>
            </a:r>
          </a:p>
          <a:p>
            <a:pPr>
              <a:spcBef>
                <a:spcPts val="300"/>
              </a:spcBef>
            </a:pPr>
            <a:r>
              <a:rPr lang="en-US" sz="1200" b="0" dirty="0"/>
              <a:t>Roll No. 224G1A0563</a:t>
            </a:r>
          </a:p>
        </p:txBody>
      </p:sp>
      <p:sp>
        <p:nvSpPr>
          <p:cNvPr id="17" name="Rectangle: Rounded Corners 16"/>
          <p:cNvSpPr/>
          <p:nvPr/>
        </p:nvSpPr>
        <p:spPr>
          <a:xfrm>
            <a:off x="755009" y="335271"/>
            <a:ext cx="10528183" cy="857864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ROOMIE RADAR - Smart Roommate Finder Portal</a:t>
            </a:r>
          </a:p>
          <a:p>
            <a:pPr algn="ctr"/>
            <a:endParaRPr lang="en-I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14840" y="1261696"/>
            <a:ext cx="676230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I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2301" y="3477046"/>
            <a:ext cx="1527379" cy="16854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40" y="22860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Contents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Title Justification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Abstract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Problem statement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Objectives of Project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Literature survey for objectives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Proposed Work -(Methods to be followed for proposed system) 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References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GitHub Link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Queries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40" y="22860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dirty="0">
                <a:solidFill>
                  <a:srgbClr val="000000"/>
                </a:solidFill>
                <a:latin typeface="Times New Roman" panose="02020603050405020304"/>
                <a:sym typeface="+mn-ea"/>
              </a:rPr>
              <a:t>Title Justification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381000" y="1097280"/>
            <a:ext cx="1143000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Roomie Radar: Smart Roommate Finder Portal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“Roomie Radar – Smart Roommate Finder Portal”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selected to represent the system’s core objective of simplifying shared accommodation management.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“Roomie”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reflects its focus on identifying compatible roommates, while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“Radar”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symbolizes intelligent searching and detection. This combination conveys a platform that uses matchmaking and location-based search to recommend the best living options.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title also highlights that the system goes beyond basic hostel listings by integrating online booking, secure payments, digital rental contracts, and real-time communication. It is concise, meaningful, and clearly represents a smart, technology-driven platform designed to streamline the entire accommodation process.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title effectively reflects the system’s purpose, coverage, and the advanced features it offers.</a:t>
            </a:r>
          </a:p>
          <a:p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Abstract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220860" y="1397286"/>
            <a:ext cx="11764560" cy="4663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endParaRPr lang="en-US" sz="2800" spc="-1" dirty="0">
              <a:solidFill>
                <a:srgbClr val="000000"/>
              </a:solidFill>
              <a:latin typeface="Times New Roman" panose="02020603050405020304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endParaRPr lang="en-US" sz="2800" spc="-1" dirty="0">
              <a:solidFill>
                <a:srgbClr val="000000"/>
              </a:solidFill>
              <a:latin typeface="Times New Roman" panose="02020603050405020304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650631-78CE-2DA5-C0DC-05165962B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720" y="1581952"/>
            <a:ext cx="1177884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Shared accommodation is widely used, but current PG/hostel systems are fragmented and unreliable.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face issues like unverified information, manual searching, and no combined platform.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aims to develop a unified system with roommate matching, PG/hostel search, secure booking, digital contracts, and chat.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user preferences, calculates compatibility scores, and integrates booking and contract features.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improved matching accuracy, more trustworthy hostel choices, and a smoother booking experience.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concludes that the integrated platform optimizes the shared accommodation process by improving system reliability, enhancing data-driven roommate matching, and streamlining end-to-end room booking operations.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Problem Statement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459520" cy="507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BB365E-1DE7-DB15-AC56-5E39B5596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317" y="1277463"/>
            <a:ext cx="10972800" cy="5432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PG/hostel rooms and suitable roommates is still manual and  unorganized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depend on scattered platforms and unverified information, leading to mismatches and trust issues.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system that provides Score based roommate matching using user preferences.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/PG search, booking, payments, and communication are not available in a single platform.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rental contracts and secure online payment options are missing.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communication causes delays and mismanagement between users and hostel owners.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unified, intelligent, and secure platform is needed to solve these issues effectively.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Objectives of Project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533400" y="1371600"/>
            <a:ext cx="11444880" cy="515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1.To build a secure, authenticated roommate matching system that uniquely uses a score-based compatibility algorithm combining lifestyle habits, budget, personal preferences, and location radius to deliver personalized and highly accurate roommate recommendations not possible through manual or profile-only matching methods.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 develop a unified and authenticated PG/hostel booking platform that integrates location-based hostel discovery, room booking, secure online payments, digital contract generation, and real-time communication into one end-to-end system replacing the need for multiple separate apps and offering a seamless, complete accommodation workflow.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                                                 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Literature survey for objectives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" name="Google Shape;176;p7">
            <a:extLst>
              <a:ext uri="{FF2B5EF4-FFF2-40B4-BE49-F238E27FC236}">
                <a16:creationId xmlns:a16="http://schemas.microsoft.com/office/drawing/2014/main" id="{BB02FDC4-6671-9073-8196-C25E9386C748}"/>
              </a:ext>
            </a:extLst>
          </p:cNvPr>
          <p:cNvSpPr txBox="1">
            <a:spLocks/>
          </p:cNvSpPr>
          <p:nvPr/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1764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 rtl="0">
              <a:lnSpc>
                <a:spcPct val="90000"/>
              </a:lnSpc>
            </a:pPr>
            <a:r>
              <a:rPr lang="en-US" sz="4400" ker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for objectives</a:t>
            </a:r>
            <a:endParaRPr lang="en-US" sz="4400" kern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76;p7">
            <a:extLst>
              <a:ext uri="{FF2B5EF4-FFF2-40B4-BE49-F238E27FC236}">
                <a16:creationId xmlns:a16="http://schemas.microsoft.com/office/drawing/2014/main" id="{52BEB855-0D0C-5B58-6E18-741D0FB02419}"/>
              </a:ext>
            </a:extLst>
          </p:cNvPr>
          <p:cNvSpPr txBox="1">
            <a:spLocks/>
          </p:cNvSpPr>
          <p:nvPr/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1764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 rtl="0">
              <a:lnSpc>
                <a:spcPct val="90000"/>
              </a:lnSpc>
            </a:pPr>
            <a:r>
              <a:rPr lang="en-US" sz="4400" ker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for objectives</a:t>
            </a:r>
            <a:endParaRPr lang="en-US" sz="4400" kern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77;p7">
            <a:extLst>
              <a:ext uri="{FF2B5EF4-FFF2-40B4-BE49-F238E27FC236}">
                <a16:creationId xmlns:a16="http://schemas.microsoft.com/office/drawing/2014/main" id="{6EC77F5E-5111-D803-53D8-CE3D5C456ECF}"/>
              </a:ext>
            </a:extLst>
          </p:cNvPr>
          <p:cNvSpPr txBox="1">
            <a:spLocks/>
          </p:cNvSpPr>
          <p:nvPr/>
        </p:nvSpPr>
        <p:spPr>
          <a:xfrm>
            <a:off x="199440" y="1097280"/>
            <a:ext cx="12193146" cy="5394600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algn="just" rtl="0">
              <a:lnSpc>
                <a:spcPct val="90000"/>
              </a:lnSpc>
            </a:pPr>
            <a:r>
              <a:rPr lang="en-US" sz="2800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</a:t>
            </a:r>
          </a:p>
        </p:txBody>
      </p:sp>
      <p:graphicFrame>
        <p:nvGraphicFramePr>
          <p:cNvPr id="7" name="Google Shape;178;p7">
            <a:extLst>
              <a:ext uri="{FF2B5EF4-FFF2-40B4-BE49-F238E27FC236}">
                <a16:creationId xmlns:a16="http://schemas.microsoft.com/office/drawing/2014/main" id="{F06F8F85-F706-AEFF-1183-CB2D14564E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284064"/>
              </p:ext>
            </p:extLst>
          </p:nvPr>
        </p:nvGraphicFramePr>
        <p:xfrm>
          <a:off x="199440" y="1066800"/>
          <a:ext cx="11382958" cy="528474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79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1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4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04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97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811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Verdana"/>
                          <a:cs typeface="Times New Roman" panose="02020603050405020304" pitchFamily="18" charset="0"/>
                          <a:sym typeface="Verdana"/>
                        </a:rPr>
                        <a:t>No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Verdana"/>
                          <a:cs typeface="Times New Roman" panose="02020603050405020304" pitchFamily="18" charset="0"/>
                          <a:sym typeface="Verdana"/>
                        </a:rPr>
                        <a:t>Title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 &amp; Year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Adapted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674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Roommate Allocation System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 on preference matching.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Kumbhar, M. Rasal, S. Kurle, A. Kasulkar, S. P. Gunjal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Innovative Research in Technology (IJIRT), Vol. 11, No. 6, 2024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Preferences are collected, weighted, scored, and ranked with  location filtering.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Score-based preference matching improves roommate compatibility by comparing lifestyle, budget, and personal preferences.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systems rely on manual or profile-only matching and do not use a secure, authenticated, multi-factor score-based method for accurate roommate compatibility.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83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 PG/Hostel Booking and Management Platform for Improved User Experience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H. Ping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Proceedings of ISCCCA (International Symposium on Computer, Communication, Control and Automation), 2013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 a centralized web-based reservation system using modular design and database-driven booking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reservation systems significantly enhance booking efficiency, reduce manual workload, minimize human error, and improve overall user accessibility to accommodation services.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PG/hostel systems are fragmented, lacking secure authentication, unified booking, digital contracts, and real-time communication in one end-to-end platform.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2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Proposed System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51BA61-77A5-2C8B-7092-F86B8A3B2B96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609600" y="1391911"/>
            <a:ext cx="106680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unified platform that integrates PG/hostel search, booking, and roommate matching.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Preference-based scoring system to recommend the most compatible roommates.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online payment system for seamless room booking.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rental contract generation for safer and transparent agreements.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access for Users, Hostel Owners, and Admins to manage their respective functions.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 system for smooth communication between users and hostel owners.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12446144-D306-269B-BB3F-7219E594A9C2}"/>
              </a:ext>
            </a:extLst>
          </p:cNvPr>
          <p:cNvSpPr txBox="1">
            <a:spLocks/>
          </p:cNvSpPr>
          <p:nvPr/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IN" sz="4400" kern="0" spc="-1">
                <a:solidFill>
                  <a:srgbClr val="FFFFFF"/>
                </a:solidFill>
                <a:latin typeface="Times New Roman" panose="02020603050405020304"/>
              </a:rPr>
              <a:t> Reference</a:t>
            </a:r>
            <a:r>
              <a:rPr lang="en-US" sz="4400" kern="0" spc="-1">
                <a:solidFill>
                  <a:srgbClr val="FFFFFF"/>
                </a:solidFill>
                <a:latin typeface="Times New Roman" panose="02020603050405020304"/>
              </a:rPr>
              <a:t>s</a:t>
            </a:r>
            <a:endParaRPr lang="en-US" sz="4400" kern="0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D3A176BE-F870-8E55-0FFB-F0CEA49CA827}"/>
              </a:ext>
            </a:extLst>
          </p:cNvPr>
          <p:cNvSpPr txBox="1">
            <a:spLocks/>
          </p:cNvSpPr>
          <p:nvPr/>
        </p:nvSpPr>
        <p:spPr>
          <a:xfrm>
            <a:off x="457200" y="13716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577850" indent="-577850"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endParaRPr lang="en-US" sz="2800" kern="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A163B2-01CF-EEE0-8BA3-67E118DB3236}"/>
              </a:ext>
            </a:extLst>
          </p:cNvPr>
          <p:cNvSpPr txBox="1"/>
          <p:nvPr/>
        </p:nvSpPr>
        <p:spPr>
          <a:xfrm>
            <a:off x="385916" y="1143000"/>
            <a:ext cx="11353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Kumbhar, M. Rasal, S. Kurle, A.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Kasulkar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P.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Gunjal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“Roommate Allocation System with AI Integration,”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Innovative Research in Technology (IJIRT)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11, no. 6, pp. 1479–1481, Nov. 2024.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2].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Ping,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“Development and Implementation of Web-Based Online Hotel Reservation System,”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2nd International Symposium on Computer, Communication, Control and Automation (ISCCCA-13)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Hefei University, Anhui, China, 2013.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413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IN" sz="4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Git Hub Dashboards of each student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15" name="Picture 11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5975" y="1539183"/>
            <a:ext cx="9230995" cy="4093958"/>
          </a:xfrm>
          <a:prstGeom prst="rect">
            <a:avLst/>
          </a:prstGeom>
          <a:ln w="0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785495" y="5996204"/>
            <a:ext cx="8534400" cy="228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of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https://github.com/nivedithakummetha63/CSE-2022-26-Batch-A3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2632680" y="2375640"/>
            <a:ext cx="6848640" cy="165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600" b="0" i="1" strike="noStrike" spc="-1">
                <a:solidFill>
                  <a:srgbClr val="FF6600"/>
                </a:solidFill>
                <a:latin typeface="Times New Roman" panose="02020603050405020304"/>
                <a:ea typeface="Calibri" panose="020F0502020204030204"/>
              </a:rPr>
              <a:t>Any Queries?</a:t>
            </a:r>
            <a:endParaRPr lang="en-IN" sz="96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1024</Words>
  <Application>Microsoft Office PowerPoint</Application>
  <PresentationFormat>Widescreen</PresentationFormat>
  <Paragraphs>96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Office Theme</vt:lpstr>
      <vt:lpstr>PowerPoint Presentation</vt:lpstr>
      <vt:lpstr>Contents</vt:lpstr>
      <vt:lpstr>Title Justification</vt:lpstr>
      <vt:lpstr>Abstract</vt:lpstr>
      <vt:lpstr>Problem Statement</vt:lpstr>
      <vt:lpstr>Objectives of Project</vt:lpstr>
      <vt:lpstr>Literature survey for objectives</vt:lpstr>
      <vt:lpstr>Proposed System</vt:lpstr>
      <vt:lpstr>PowerPoint Presentation</vt:lpstr>
      <vt:lpstr>Git Hub Dashboards of each student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venkatesh k</dc:creator>
  <cp:lastModifiedBy>K NIVEDITHA</cp:lastModifiedBy>
  <cp:revision>150</cp:revision>
  <dcterms:created xsi:type="dcterms:W3CDTF">2019-06-11T05:35:00Z</dcterms:created>
  <dcterms:modified xsi:type="dcterms:W3CDTF">2025-12-11T17:05:47Z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9BB83942808244A299B002FD6DDC753B</vt:lpwstr>
  </property>
  <property fmtid="{D5CDD505-2E9C-101B-9397-08002B2CF9AE}" pid="3" name="KSOProductBuildVer">
    <vt:lpwstr>1033-12.2.0.18639</vt:lpwstr>
  </property>
  <property fmtid="{D5CDD505-2E9C-101B-9397-08002B2CF9AE}" pid="4" name="PresentationFormat">
    <vt:lpwstr>Widescreen</vt:lpwstr>
  </property>
  <property fmtid="{D5CDD505-2E9C-101B-9397-08002B2CF9AE}" pid="5" name="Slides">
    <vt:i4>8</vt:i4>
  </property>
</Properties>
</file>